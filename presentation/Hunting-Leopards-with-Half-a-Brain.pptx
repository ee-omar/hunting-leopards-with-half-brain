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72365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7262703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9291112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7399455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8387534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1004941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125041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39926348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Good morning. I am happy to present our project, Hunting Leopards with Half a Brain, where we built</a:t>
            </a:r>
            <a:endParaRPr/>
          </a:p>
          <a:p>
            <a:pPr>
              <a:defRPr/>
            </a:pPr>
            <a:r>
              <a:rPr/>
              <a:t>a split detection system for the Arabian leopard that does not rely on the cloud.</a:t>
            </a:r>
            <a:endParaRPr/>
          </a:p>
        </p:txBody>
      </p:sp>
      <p:sp>
        <p:nvSpPr>
          <p:cNvPr id="1744760348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72701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47178216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This is the whole thing on one slide, and then I will take each piece in turn.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Why: a critically endangered species living somewhere with no power grid and no network. How: take</a:t>
            </a:r>
            <a:endParaRPr/>
          </a:p>
          <a:p>
            <a:pPr>
              <a:defRPr/>
            </a:pPr>
            <a:r>
              <a:rPr/>
              <a:t>one YOLO26 Large model and split it across many cheap camera nodes and one shared server. The piece</a:t>
            </a:r>
            <a:endParaRPr/>
          </a:p>
          <a:p>
            <a:pPr>
              <a:defRPr/>
            </a:pPr>
            <a:r>
              <a:rPr/>
              <a:t>that makes that actually work: a learned compression step sitting in the middle of the model. And</a:t>
            </a:r>
            <a:endParaRPr/>
          </a:p>
          <a:p>
            <a:pPr>
              <a:defRPr/>
            </a:pPr>
            <a:r>
              <a:rPr/>
              <a:t>what it costs us: almost nothing on the one class we care about.</a:t>
            </a:r>
            <a:endParaRPr/>
          </a:p>
        </p:txBody>
      </p:sp>
      <p:sp>
        <p:nvSpPr>
          <p:cNvPr id="1340579718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58531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092260736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So, why the Arabian leopard.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About two hundred remain in the wild, and the International Union for Conservation of Nature lists</a:t>
            </a:r>
            <a:endParaRPr/>
          </a:p>
          <a:p>
            <a:pPr>
              <a:defRPr/>
            </a:pPr>
            <a:r>
              <a:rPr/>
              <a:t>the subspecies as critically endangered.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Saudi Arabia is putting serious money behind bringing it back. The Royal Commission for AlUla runs</a:t>
            </a:r>
            <a:endParaRPr/>
          </a:p>
          <a:p>
            <a:pPr>
              <a:defRPr/>
            </a:pPr>
            <a:r>
              <a:rPr/>
              <a:t>the Arabian Leopard Fund. The breeding programme at the Prince Saud Al Faisal Wildlife Research</a:t>
            </a:r>
            <a:endParaRPr/>
          </a:p>
          <a:p>
            <a:pPr>
              <a:defRPr/>
            </a:pPr>
            <a:r>
              <a:rPr/>
              <a:t>Center in Taif produced six cubs last year. Ibex, gazelle and oryx are being reintroduced to rebuild</a:t>
            </a:r>
            <a:endParaRPr/>
          </a:p>
          <a:p>
            <a:pPr>
              <a:defRPr/>
            </a:pPr>
            <a:r>
              <a:rPr/>
              <a:t>the food chain, with the IUCN, Panthera, Catmosphere and the Smithsonian as partners.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All of that work runs on a single input: where the animals actually are, right now. And that has to</a:t>
            </a:r>
            <a:endParaRPr/>
          </a:p>
          <a:p>
            <a:pPr>
              <a:defRPr/>
            </a:pPr>
            <a:r>
              <a:rPr/>
              <a:t>be measured in places with no power grid and no network.</a:t>
            </a:r>
            <a:endParaRPr/>
          </a:p>
        </p:txBody>
      </p:sp>
      <p:sp>
        <p:nvSpPr>
          <p:cNvPr id="112244004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218962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08953919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Here is the shape of what we built.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The camera node is a Raspberry Pi Zero 2 W. It runs the first three layers of the model and nothing</a:t>
            </a:r>
            <a:endParaRPr/>
          </a:p>
          <a:p>
            <a:pPr>
              <a:defRPr/>
            </a:pPr>
            <a:r>
              <a:rPr/>
              <a:t>else. What comes out goes over local Wi-Fi to a Raspberry Pi 3, which runs the remaining twenty</a:t>
            </a:r>
            <a:endParaRPr/>
          </a:p>
          <a:p>
            <a:pPr>
              <a:defRPr/>
            </a:pPr>
            <a:r>
              <a:rPr/>
              <a:t>layers and the detection head.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The reason it is arranged this way is scale. The heavy part of the model exists once and is shared,</a:t>
            </a:r>
            <a:endParaRPr/>
          </a:p>
          <a:p>
            <a:pPr>
              <a:defRPr/>
            </a:pPr>
            <a:r>
              <a:rPr/>
              <a:t>so covering more ground costs one more camera, not one more server.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And if the link drops, the camera does not go dark. It falls back to a smaller model it can run on</a:t>
            </a:r>
            <a:endParaRPr/>
          </a:p>
          <a:p>
            <a:pPr>
              <a:defRPr/>
            </a:pPr>
            <a:r>
              <a:rPr/>
              <a:t>its own until the link returns.</a:t>
            </a:r>
            <a:endParaRPr/>
          </a:p>
        </p:txBody>
      </p:sp>
      <p:sp>
        <p:nvSpPr>
          <p:cNvPr id="120342140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60505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18907575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Two decisions sit behind that picture.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The data first. We built the training set from LILA BC, a public camera trap archive, plus seven</a:t>
            </a:r>
            <a:endParaRPr/>
          </a:p>
          <a:p>
            <a:pPr>
              <a:defRPr/>
            </a:pPr>
            <a:r>
              <a:rPr/>
              <a:t>open Roboflow datasets and our own background photographs. Eight classes are labelled, but the</a:t>
            </a:r>
            <a:endParaRPr/>
          </a:p>
          <a:p>
            <a:pPr>
              <a:defRPr/>
            </a:pPr>
            <a:r>
              <a:rPr/>
              <a:t>leopard is the only one we act on. The other seven share its habitat, and they are there so the</a:t>
            </a:r>
            <a:endParaRPr/>
          </a:p>
          <a:p>
            <a:pPr>
              <a:defRPr/>
            </a:pPr>
            <a:r>
              <a:rPr/>
              <a:t>model learns what a leopard is not.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Then the cut point, which we did not guess. We enumerated the eighteen places in the exported graph</a:t>
            </a:r>
            <a:endParaRPr/>
          </a:p>
          <a:p>
            <a:pPr>
              <a:defRPr/>
            </a:pPr>
            <a:r>
              <a:rPr/>
              <a:t>where exactly one tensor crosses the boundary, and profiled every one of them on the real devices.</a:t>
            </a:r>
            <a:endParaRPr/>
          </a:p>
          <a:p>
            <a:pPr>
              <a:defRPr/>
            </a:pPr>
            <a:r>
              <a:rPr/>
              <a:t>Layer three won. It leaves three point four percent of the parameters on the camera.</a:t>
            </a:r>
            <a:endParaRPr/>
          </a:p>
        </p:txBody>
      </p:sp>
      <p:sp>
        <p:nvSpPr>
          <p:cNvPr id="203482294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139892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50185708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Which brings me to the thing that decides whether any of this is practical: what actually crosses</a:t>
            </a:r>
            <a:endParaRPr/>
          </a:p>
          <a:p>
            <a:pPr>
              <a:defRPr/>
            </a:pPr>
            <a:r>
              <a:rPr/>
              <a:t>the link.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Cut at layer three and the tensor you have to send is sixteen hundred kilobytes for one frame. On a</a:t>
            </a:r>
            <a:endParaRPr/>
          </a:p>
          <a:p>
            <a:pPr>
              <a:defRPr/>
            </a:pPr>
            <a:r>
              <a:rPr/>
              <a:t>single wireless link shared by many cameras, that is the ceiling on how many nodes a server can</a:t>
            </a:r>
            <a:endParaRPr/>
          </a:p>
          <a:p>
            <a:pPr>
              <a:defRPr/>
            </a:pPr>
            <a:r>
              <a:rPr/>
              <a:t>carry.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So we trained an encoder and decoder pair that straddles the cut. The encoder narrows the feature</a:t>
            </a:r>
            <a:endParaRPr/>
          </a:p>
          <a:p>
            <a:pPr>
              <a:defRPr/>
            </a:pPr>
            <a:r>
              <a:rPr/>
              <a:t>map from two hundred and fifty six channels down to sixteen and sends it as eight bit integers. It</a:t>
            </a:r>
            <a:endParaRPr/>
          </a:p>
          <a:p>
            <a:pPr>
              <a:defRPr/>
            </a:pPr>
            <a:r>
              <a:rPr/>
              <a:t>costs four thousand parameters on the camera, and the expensive reconstruction sits on the server.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Two numbers come out of that. The payload drops sixty four times, from sixteen hundred kilobytes to</a:t>
            </a:r>
            <a:endParaRPr/>
          </a:p>
          <a:p>
            <a:pPr>
              <a:defRPr/>
            </a:pPr>
            <a:r>
              <a:rPr/>
              <a:t>twenty five. And the time spent transmitting drops seven times, from five hundred and twenty two</a:t>
            </a:r>
            <a:endParaRPr/>
          </a:p>
          <a:p>
            <a:pPr>
              <a:defRPr/>
            </a:pPr>
            <a:r>
              <a:rPr/>
              <a:t>milliseconds down to seventy three, measured on the devices.</a:t>
            </a:r>
            <a:endParaRPr/>
          </a:p>
        </p:txBody>
      </p:sp>
      <p:sp>
        <p:nvSpPr>
          <p:cNvPr id="172018186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08233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44481896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So what did that cost us?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Almost nothing where it matters. On the leopard the model reaches nought point nine eight eight</a:t>
            </a:r>
            <a:endParaRPr/>
          </a:p>
          <a:p>
            <a:pPr>
              <a:defRPr/>
            </a:pPr>
            <a:r>
              <a:rPr/>
              <a:t>average precision, and the compression takes about one hundredth of a point off that. Across all</a:t>
            </a:r>
            <a:endParaRPr/>
          </a:p>
          <a:p>
            <a:pPr>
              <a:defRPr/>
            </a:pPr>
            <a:r>
              <a:rPr/>
              <a:t>eight classes together the drop is two hundredths. These are measured on the deployed ONNX artefacts</a:t>
            </a:r>
            <a:endParaRPr/>
          </a:p>
          <a:p>
            <a:pPr>
              <a:defRPr/>
            </a:pPr>
            <a:r>
              <a:rPr/>
              <a:t>over a real link, not simulated.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On speed we gained. Overlapping the camera and the server so two frames are in flight at once takes</a:t>
            </a:r>
            <a:endParaRPr/>
          </a:p>
          <a:p>
            <a:pPr>
              <a:defRPr/>
            </a:pPr>
            <a:r>
              <a:rPr/>
              <a:t>us from nought point three two to nought point five frames per second, a fifty eight percent</a:t>
            </a:r>
            <a:endParaRPr/>
          </a:p>
          <a:p>
            <a:pPr>
              <a:defRPr/>
            </a:pPr>
            <a:r>
              <a:rPr/>
              <a:t>improvement on identical hardware.</a:t>
            </a:r>
            <a:endParaRPr/>
          </a:p>
        </p:txBody>
      </p:sp>
      <p:sp>
        <p:nvSpPr>
          <p:cNvPr id="204964147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701353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09640909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So, the consequence.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A model that no single field device can run in real time now runs across a whole reserve, and the</a:t>
            </a:r>
            <a:endParaRPr/>
          </a:p>
          <a:p>
            <a:pPr>
              <a:defRPr/>
            </a:pPr>
            <a:r>
              <a:rPr/>
              <a:t>wireless link is no longer what limits how many cameras that reserve can carry.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Next steps are skipping empty frames on the camera itself, and a live trial in the field.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Thank you.</a:t>
            </a:r>
            <a:endParaRPr/>
          </a:p>
        </p:txBody>
      </p:sp>
      <p:sp>
        <p:nvSpPr>
          <p:cNvPr id="73243757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F8C086-2FA3-D79E-71F8-56895076F3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703048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47570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234978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944579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4117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3644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681321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808745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810776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03683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224706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16347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334147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363685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74106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5046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441511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160880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172813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584509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846685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7901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95330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48737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2511440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800749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1636534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5363288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798428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0780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882822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2700705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634752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974523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3916673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728943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3147521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2597757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4617006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1199990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4961352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113882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040896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5428169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96027078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2818703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2913481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687479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79667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392293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185782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077636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08952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028803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077685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76263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587705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45132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99838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03856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9105238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5319449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440678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33312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170397" name="Rectangle 2"/>
          <p:cNvSpPr/>
          <p:nvPr/>
        </p:nvSpPr>
        <p:spPr bwMode="auto">
          <a:xfrm>
            <a:off x="0" y="0"/>
            <a:ext cx="310896" cy="6858000"/>
          </a:xfrm>
          <a:prstGeom prst="rect">
            <a:avLst/>
          </a:prstGeom>
          <a:solidFill>
            <a:srgbClr val="B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194789" name="Rectangle 3"/>
          <p:cNvSpPr/>
          <p:nvPr/>
        </p:nvSpPr>
        <p:spPr bwMode="auto">
          <a:xfrm>
            <a:off x="0" y="6547104"/>
            <a:ext cx="12191695" cy="310896"/>
          </a:xfrm>
          <a:prstGeom prst="rect">
            <a:avLst/>
          </a:prstGeom>
          <a:solidFill>
            <a:srgbClr val="B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956513" name="TextBox 4"/>
          <p:cNvSpPr txBox="1"/>
          <p:nvPr/>
        </p:nvSpPr>
        <p:spPr bwMode="auto">
          <a:xfrm>
            <a:off x="1188720" y="178308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5200" b="1">
                <a:solidFill>
                  <a:srgbClr val="543E2D"/>
                </a:solidFill>
                <a:latin typeface="Trebuchet MS"/>
              </a:rPr>
              <a:t>Hunting Leopards</a:t>
            </a:r>
            <a:endParaRPr/>
          </a:p>
          <a:p>
            <a:pPr>
              <a:defRPr/>
            </a:pPr>
            <a:r>
              <a:rPr sz="5200" b="1">
                <a:solidFill>
                  <a:srgbClr val="543E2D"/>
                </a:solidFill>
                <a:latin typeface="Trebuchet MS"/>
              </a:rPr>
              <a:t>with Half a Brain</a:t>
            </a:r>
            <a:endParaRPr/>
          </a:p>
        </p:txBody>
      </p:sp>
      <p:sp>
        <p:nvSpPr>
          <p:cNvPr id="709527278" name="Rectangle 5"/>
          <p:cNvSpPr/>
          <p:nvPr/>
        </p:nvSpPr>
        <p:spPr bwMode="auto">
          <a:xfrm>
            <a:off x="1188720" y="3675887"/>
            <a:ext cx="2194560" cy="54864"/>
          </a:xfrm>
          <a:prstGeom prst="rect">
            <a:avLst/>
          </a:prstGeom>
          <a:solidFill>
            <a:srgbClr val="B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3067728" name="TextBox 6"/>
          <p:cNvSpPr txBox="1"/>
          <p:nvPr/>
        </p:nvSpPr>
        <p:spPr bwMode="auto">
          <a:xfrm>
            <a:off x="1188720" y="3886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100">
                <a:solidFill>
                  <a:srgbClr val="955E39"/>
                </a:solidFill>
                <a:latin typeface="Trebuchet MS"/>
              </a:rPr>
              <a:t>Split inference for Arabian leopard detection on off-grid hardware</a:t>
            </a:r>
            <a:endParaRPr/>
          </a:p>
        </p:txBody>
      </p:sp>
      <p:sp>
        <p:nvSpPr>
          <p:cNvPr id="2031621956" name="TextBox 7"/>
          <p:cNvSpPr txBox="1"/>
          <p:nvPr/>
        </p:nvSpPr>
        <p:spPr bwMode="auto">
          <a:xfrm>
            <a:off x="1188720" y="4892039"/>
            <a:ext cx="10062719" cy="1392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500">
                <a:solidFill>
                  <a:srgbClr val="3B2E23"/>
                </a:solidFill>
                <a:latin typeface="Trebuchet MS"/>
              </a:rPr>
              <a:t>Omar Alharbi, Abdullah Alhindi, Abdullah Alghanim, Rasheed Hamidaddin,</a:t>
            </a:r>
            <a:endParaRPr/>
          </a:p>
          <a:p>
            <a:pPr>
              <a:defRPr/>
            </a:pPr>
            <a:r>
              <a:rPr sz="1500">
                <a:solidFill>
                  <a:srgbClr val="3B2E23"/>
                </a:solidFill>
                <a:latin typeface="Trebuchet MS"/>
              </a:rPr>
              <a:t>Basil Alshareef, Basil Alshehri</a:t>
            </a:r>
            <a:endParaRPr sz="1500">
              <a:solidFill>
                <a:srgbClr val="3B2E23"/>
              </a:solidFill>
              <a:latin typeface="Trebuchet MS"/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sz="1500">
                <a:solidFill>
                  <a:srgbClr val="3B2E23"/>
                </a:solidFill>
                <a:latin typeface="Trebuchet MS"/>
              </a:rPr>
              <a:t>Mentor: Mojtaba Alshams</a:t>
            </a:r>
            <a:endParaRPr sz="1500">
              <a:solidFill>
                <a:srgbClr val="3B2E23"/>
              </a:solidFill>
              <a:latin typeface="Trebuchet MS"/>
            </a:endParaRPr>
          </a:p>
          <a:p>
            <a:pPr>
              <a:spcBef>
                <a:spcPts val="1000"/>
              </a:spcBef>
              <a:defRPr/>
            </a:pPr>
            <a:r>
              <a:rPr sz="1400" b="1">
                <a:solidFill>
                  <a:srgbClr val="955E39"/>
                </a:solidFill>
                <a:latin typeface="Trebuchet MS"/>
              </a:rPr>
              <a:t>KAUST Academy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3605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6746607" name="TextBox 3"/>
          <p:cNvSpPr txBox="1"/>
          <p:nvPr/>
        </p:nvSpPr>
        <p:spPr bwMode="auto">
          <a:xfrm>
            <a:off x="777240" y="841248"/>
            <a:ext cx="10640814" cy="609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3400" b="1">
                <a:solidFill>
                  <a:srgbClr val="543E2D"/>
                </a:solidFill>
                <a:latin typeface="Trebuchet MS"/>
              </a:rPr>
              <a:t>Abstract</a:t>
            </a:r>
            <a:endParaRPr sz="3400" b="1">
              <a:solidFill>
                <a:srgbClr val="543E2D"/>
              </a:solidFill>
              <a:latin typeface="Trebuchet MS"/>
            </a:endParaRPr>
          </a:p>
        </p:txBody>
      </p:sp>
      <p:sp>
        <p:nvSpPr>
          <p:cNvPr id="1204625720" name="Rectangle 4"/>
          <p:cNvSpPr/>
          <p:nvPr/>
        </p:nvSpPr>
        <p:spPr bwMode="auto">
          <a:xfrm>
            <a:off x="777240" y="1627632"/>
            <a:ext cx="1463040" cy="50292"/>
          </a:xfrm>
          <a:prstGeom prst="rect">
            <a:avLst/>
          </a:prstGeom>
          <a:solidFill>
            <a:srgbClr val="B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2645894" name="TextBox 5"/>
          <p:cNvSpPr txBox="1"/>
          <p:nvPr/>
        </p:nvSpPr>
        <p:spPr bwMode="auto">
          <a:xfrm>
            <a:off x="777240" y="1874519"/>
            <a:ext cx="106372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999"/>
              </a:lnSpc>
              <a:spcAft>
                <a:spcPts val="1100"/>
              </a:spcAft>
              <a:defRPr/>
            </a:pPr>
            <a:r>
              <a:rPr sz="2200">
                <a:solidFill>
                  <a:srgbClr val="B47954"/>
                </a:solidFill>
                <a:latin typeface="Trebuchet MS"/>
              </a:rPr>
              <a:t>▪  </a:t>
            </a:r>
            <a:r>
              <a:rPr sz="2200">
                <a:solidFill>
                  <a:srgbClr val="3B2E23"/>
                </a:solidFill>
                <a:latin typeface="Trebuchet MS"/>
              </a:rPr>
              <a:t>Why: a critically endangered species whose habitat has no power grid and no network.</a:t>
            </a:r>
            <a:endParaRPr/>
          </a:p>
          <a:p>
            <a:pPr>
              <a:lnSpc>
                <a:spcPct val="114999"/>
              </a:lnSpc>
              <a:spcAft>
                <a:spcPts val="1100"/>
              </a:spcAft>
              <a:defRPr/>
            </a:pPr>
            <a:r>
              <a:rPr sz="2200">
                <a:solidFill>
                  <a:srgbClr val="B47954"/>
                </a:solidFill>
                <a:latin typeface="Trebuchet MS"/>
              </a:rPr>
              <a:t>▪  </a:t>
            </a:r>
            <a:r>
              <a:rPr sz="2200">
                <a:solidFill>
                  <a:srgbClr val="3B2E23"/>
                </a:solidFill>
                <a:latin typeface="Trebuchet MS"/>
              </a:rPr>
              <a:t>How: one YOLO26 Large model split across many low cost camera nodes and one shared server.</a:t>
            </a:r>
            <a:endParaRPr/>
          </a:p>
          <a:p>
            <a:pPr>
              <a:lnSpc>
                <a:spcPct val="114999"/>
              </a:lnSpc>
              <a:spcAft>
                <a:spcPts val="1100"/>
              </a:spcAft>
              <a:defRPr/>
            </a:pPr>
            <a:r>
              <a:rPr sz="2200">
                <a:solidFill>
                  <a:srgbClr val="B47954"/>
                </a:solidFill>
                <a:latin typeface="Trebuchet MS"/>
              </a:rPr>
              <a:t>▪  </a:t>
            </a:r>
            <a:r>
              <a:rPr sz="2200">
                <a:solidFill>
                  <a:srgbClr val="3B2E23"/>
                </a:solidFill>
                <a:latin typeface="Trebuchet MS"/>
              </a:rPr>
              <a:t>The key piece: a learned compression step sitting in the middle of the model.</a:t>
            </a:r>
            <a:endParaRPr/>
          </a:p>
          <a:p>
            <a:pPr>
              <a:lnSpc>
                <a:spcPct val="114999"/>
              </a:lnSpc>
              <a:spcAft>
                <a:spcPts val="1100"/>
              </a:spcAft>
              <a:defRPr/>
            </a:pPr>
            <a:r>
              <a:rPr sz="2200">
                <a:solidFill>
                  <a:srgbClr val="B47954"/>
                </a:solidFill>
                <a:latin typeface="Trebuchet MS"/>
              </a:rPr>
              <a:t>▪  </a:t>
            </a:r>
            <a:r>
              <a:rPr sz="2200">
                <a:solidFill>
                  <a:srgbClr val="3B2E23"/>
                </a:solidFill>
                <a:latin typeface="Trebuchet MS"/>
              </a:rPr>
              <a:t>The cost: almost nothing measurable on the class we actually act 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886807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8568705" name="TextBox 2"/>
          <p:cNvSpPr txBox="1"/>
          <p:nvPr/>
        </p:nvSpPr>
        <p:spPr bwMode="auto">
          <a:xfrm>
            <a:off x="777240" y="47548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300" b="1">
                <a:solidFill>
                  <a:srgbClr val="955E39"/>
                </a:solidFill>
                <a:latin typeface="Trebuchet MS"/>
              </a:rPr>
              <a:t>INTRODUCTION</a:t>
            </a:r>
            <a:endParaRPr/>
          </a:p>
        </p:txBody>
      </p:sp>
      <p:sp>
        <p:nvSpPr>
          <p:cNvPr id="296580646" name="TextBox 3"/>
          <p:cNvSpPr txBox="1"/>
          <p:nvPr/>
        </p:nvSpPr>
        <p:spPr bwMode="auto">
          <a:xfrm>
            <a:off x="777240" y="841248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3400" b="1">
                <a:solidFill>
                  <a:srgbClr val="543E2D"/>
                </a:solidFill>
                <a:latin typeface="Trebuchet MS"/>
              </a:rPr>
              <a:t>Why the Arabian leopard</a:t>
            </a:r>
            <a:endParaRPr/>
          </a:p>
        </p:txBody>
      </p:sp>
      <p:sp>
        <p:nvSpPr>
          <p:cNvPr id="1743256878" name="Rectangle 4"/>
          <p:cNvSpPr/>
          <p:nvPr/>
        </p:nvSpPr>
        <p:spPr bwMode="auto">
          <a:xfrm>
            <a:off x="777240" y="1627632"/>
            <a:ext cx="1463040" cy="50292"/>
          </a:xfrm>
          <a:prstGeom prst="rect">
            <a:avLst/>
          </a:prstGeom>
          <a:solidFill>
            <a:srgbClr val="B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749939" name="TextBox 5"/>
          <p:cNvSpPr txBox="1"/>
          <p:nvPr/>
        </p:nvSpPr>
        <p:spPr bwMode="auto">
          <a:xfrm>
            <a:off x="777240" y="1874519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999"/>
              </a:lnSpc>
              <a:spcAft>
                <a:spcPts val="1100"/>
              </a:spcAft>
              <a:defRPr/>
            </a:pPr>
            <a:r>
              <a:rPr sz="2000">
                <a:solidFill>
                  <a:srgbClr val="B47954"/>
                </a:solidFill>
                <a:latin typeface="Trebuchet MS"/>
              </a:rPr>
              <a:t>▪  </a:t>
            </a:r>
            <a:r>
              <a:rPr sz="2000">
                <a:solidFill>
                  <a:srgbClr val="3B2E23"/>
                </a:solidFill>
                <a:latin typeface="Trebuchet MS"/>
              </a:rPr>
              <a:t>Roughly 200 left in the wild. Critically endangered on the IUCN Red List.</a:t>
            </a:r>
            <a:endParaRPr/>
          </a:p>
          <a:p>
            <a:pPr>
              <a:lnSpc>
                <a:spcPct val="114999"/>
              </a:lnSpc>
              <a:spcAft>
                <a:spcPts val="1100"/>
              </a:spcAft>
              <a:defRPr/>
            </a:pPr>
            <a:r>
              <a:rPr sz="2000">
                <a:solidFill>
                  <a:srgbClr val="B47954"/>
                </a:solidFill>
                <a:latin typeface="Trebuchet MS"/>
              </a:rPr>
              <a:t>▪  </a:t>
            </a:r>
            <a:r>
              <a:rPr sz="2000">
                <a:solidFill>
                  <a:srgbClr val="3B2E23"/>
                </a:solidFill>
                <a:latin typeface="Trebuchet MS"/>
              </a:rPr>
              <a:t>Saudi Arabia is investing heavily in its recovery:</a:t>
            </a:r>
            <a:endParaRPr/>
          </a:p>
          <a:p>
            <a:pPr lvl="1">
              <a:lnSpc>
                <a:spcPct val="114999"/>
              </a:lnSpc>
              <a:spcAft>
                <a:spcPts val="500"/>
              </a:spcAft>
              <a:defRPr/>
            </a:pPr>
            <a:r>
              <a:rPr sz="1700">
                <a:solidFill>
                  <a:srgbClr val="776353"/>
                </a:solidFill>
                <a:latin typeface="Trebuchet MS"/>
              </a:rPr>
              <a:t>      The Arabian Leopard Fund, run by the Royal Commission for AlUla</a:t>
            </a:r>
            <a:endParaRPr/>
          </a:p>
          <a:p>
            <a:pPr lvl="1">
              <a:lnSpc>
                <a:spcPct val="114999"/>
              </a:lnSpc>
              <a:spcAft>
                <a:spcPts val="500"/>
              </a:spcAft>
              <a:defRPr/>
            </a:pPr>
            <a:r>
              <a:rPr sz="1700">
                <a:solidFill>
                  <a:srgbClr val="776353"/>
                </a:solidFill>
                <a:latin typeface="Trebuchet MS"/>
              </a:rPr>
              <a:t>      Breeding at the Prince Saud Al-Faisal Wildlife Research Center in Taif, six cubs born in 2025</a:t>
            </a:r>
            <a:endParaRPr/>
          </a:p>
          <a:p>
            <a:pPr lvl="1">
              <a:lnSpc>
                <a:spcPct val="114999"/>
              </a:lnSpc>
              <a:spcAft>
                <a:spcPts val="500"/>
              </a:spcAft>
              <a:defRPr/>
            </a:pPr>
            <a:r>
              <a:rPr sz="1700">
                <a:solidFill>
                  <a:srgbClr val="776353"/>
                </a:solidFill>
                <a:latin typeface="Trebuchet MS"/>
              </a:rPr>
              <a:t>      Ibex, gazelle and oryx reintroduced to rebuild the food chain</a:t>
            </a:r>
            <a:endParaRPr/>
          </a:p>
          <a:p>
            <a:pPr lvl="1">
              <a:lnSpc>
                <a:spcPct val="114999"/>
              </a:lnSpc>
              <a:spcAft>
                <a:spcPts val="500"/>
              </a:spcAft>
              <a:defRPr/>
            </a:pPr>
            <a:r>
              <a:rPr sz="1700">
                <a:solidFill>
                  <a:srgbClr val="776353"/>
                </a:solidFill>
                <a:latin typeface="Trebuchet MS"/>
              </a:rPr>
              <a:t>      Partners include the IUCN, Panthera, Catmosphere and the Smithsonian</a:t>
            </a:r>
            <a:endParaRPr/>
          </a:p>
          <a:p>
            <a:pPr>
              <a:lnSpc>
                <a:spcPct val="114999"/>
              </a:lnSpc>
              <a:spcAft>
                <a:spcPts val="1100"/>
              </a:spcAft>
              <a:defRPr/>
            </a:pPr>
            <a:r>
              <a:rPr sz="2000">
                <a:solidFill>
                  <a:srgbClr val="B47954"/>
                </a:solidFill>
                <a:latin typeface="Trebuchet MS"/>
              </a:rPr>
              <a:t>▪  </a:t>
            </a:r>
            <a:r>
              <a:rPr sz="2000">
                <a:solidFill>
                  <a:srgbClr val="3B2E23"/>
                </a:solidFill>
                <a:latin typeface="Trebuchet MS"/>
              </a:rPr>
              <a:t>All of that work runs on one input: where the animals actually are, right now.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35351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6108250" name="TextBox 2"/>
          <p:cNvSpPr txBox="1"/>
          <p:nvPr/>
        </p:nvSpPr>
        <p:spPr bwMode="auto">
          <a:xfrm>
            <a:off x="777240" y="47548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300" b="1">
                <a:solidFill>
                  <a:srgbClr val="955E39"/>
                </a:solidFill>
                <a:latin typeface="Trebuchet MS"/>
              </a:rPr>
              <a:t>SYSTEM OVERVIEW</a:t>
            </a:r>
            <a:endParaRPr/>
          </a:p>
        </p:txBody>
      </p:sp>
      <p:sp>
        <p:nvSpPr>
          <p:cNvPr id="479505383" name="TextBox 3"/>
          <p:cNvSpPr txBox="1"/>
          <p:nvPr/>
        </p:nvSpPr>
        <p:spPr bwMode="auto">
          <a:xfrm>
            <a:off x="777240" y="841248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3400" b="1">
                <a:solidFill>
                  <a:srgbClr val="543E2D"/>
                </a:solidFill>
                <a:latin typeface="Trebuchet MS"/>
              </a:rPr>
              <a:t>A network of camera nodes, one shared server</a:t>
            </a:r>
            <a:endParaRPr/>
          </a:p>
        </p:txBody>
      </p:sp>
      <p:sp>
        <p:nvSpPr>
          <p:cNvPr id="387059958" name="Rectangle 4"/>
          <p:cNvSpPr/>
          <p:nvPr/>
        </p:nvSpPr>
        <p:spPr bwMode="auto">
          <a:xfrm>
            <a:off x="777240" y="1627632"/>
            <a:ext cx="1463040" cy="50292"/>
          </a:xfrm>
          <a:prstGeom prst="rect">
            <a:avLst/>
          </a:prstGeom>
          <a:solidFill>
            <a:srgbClr val="B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5017508" name="Rounded Rectangle 5"/>
          <p:cNvSpPr/>
          <p:nvPr/>
        </p:nvSpPr>
        <p:spPr bwMode="auto">
          <a:xfrm flipH="0" flipV="0">
            <a:off x="1983818" y="1746504"/>
            <a:ext cx="7801702" cy="3838609"/>
          </a:xfrm>
          <a:prstGeom prst="roundRect">
            <a:avLst>
              <a:gd name="adj" fmla="val 16667"/>
            </a:avLst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39407526" name="Picture 6" descr="architectur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247006" y="1950910"/>
            <a:ext cx="7275326" cy="3429796"/>
          </a:xfrm>
          <a:prstGeom prst="rect">
            <a:avLst/>
          </a:prstGeom>
        </p:spPr>
      </p:pic>
      <p:sp>
        <p:nvSpPr>
          <p:cNvPr id="1834749644" name="TextBox 7"/>
          <p:cNvSpPr txBox="1"/>
          <p:nvPr/>
        </p:nvSpPr>
        <p:spPr bwMode="auto">
          <a:xfrm>
            <a:off x="777239" y="5660967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800">
                <a:solidFill>
                  <a:srgbClr val="3B2E23"/>
                </a:solidFill>
                <a:latin typeface="Trebuchet MS"/>
              </a:rPr>
              <a:t>The heavy part of the model exists once and is shared, so covering more ground costs one more camera, not one more server.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64997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7407009" name="TextBox 2"/>
          <p:cNvSpPr txBox="1"/>
          <p:nvPr/>
        </p:nvSpPr>
        <p:spPr bwMode="auto">
          <a:xfrm>
            <a:off x="777240" y="47548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300" b="1">
                <a:solidFill>
                  <a:srgbClr val="955E39"/>
                </a:solidFill>
                <a:latin typeface="Trebuchet MS"/>
              </a:rPr>
              <a:t>METHODOLOGY</a:t>
            </a:r>
            <a:endParaRPr/>
          </a:p>
        </p:txBody>
      </p:sp>
      <p:sp>
        <p:nvSpPr>
          <p:cNvPr id="1817243477" name="TextBox 3"/>
          <p:cNvSpPr txBox="1"/>
          <p:nvPr/>
        </p:nvSpPr>
        <p:spPr bwMode="auto">
          <a:xfrm>
            <a:off x="777240" y="841248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3400" b="1">
                <a:solidFill>
                  <a:srgbClr val="543E2D"/>
                </a:solidFill>
                <a:latin typeface="Trebuchet MS"/>
              </a:rPr>
              <a:t>Where we cut the model</a:t>
            </a:r>
            <a:endParaRPr/>
          </a:p>
        </p:txBody>
      </p:sp>
      <p:sp>
        <p:nvSpPr>
          <p:cNvPr id="1113324417" name="Rectangle 4"/>
          <p:cNvSpPr/>
          <p:nvPr/>
        </p:nvSpPr>
        <p:spPr bwMode="auto">
          <a:xfrm>
            <a:off x="777240" y="1627632"/>
            <a:ext cx="1463040" cy="50292"/>
          </a:xfrm>
          <a:prstGeom prst="rect">
            <a:avLst/>
          </a:prstGeom>
          <a:solidFill>
            <a:srgbClr val="B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8665844" name="TextBox 5"/>
          <p:cNvSpPr txBox="1"/>
          <p:nvPr/>
        </p:nvSpPr>
        <p:spPr bwMode="auto">
          <a:xfrm>
            <a:off x="777240" y="1874518"/>
            <a:ext cx="10635479" cy="1912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999"/>
              </a:lnSpc>
              <a:spcAft>
                <a:spcPts val="1100"/>
              </a:spcAft>
              <a:defRPr/>
            </a:pPr>
            <a:r>
              <a:rPr sz="2000">
                <a:solidFill>
                  <a:srgbClr val="B47954"/>
                </a:solidFill>
                <a:latin typeface="Trebuchet MS"/>
              </a:rPr>
              <a:t>▪  </a:t>
            </a:r>
            <a:r>
              <a:rPr sz="2000">
                <a:solidFill>
                  <a:srgbClr val="3B2E23"/>
                </a:solidFill>
                <a:latin typeface="Trebuchet MS"/>
              </a:rPr>
              <a:t>Data from LILA BC, seven open Roboflow datasets, and our own background images.</a:t>
            </a:r>
            <a:endParaRPr/>
          </a:p>
          <a:p>
            <a:pPr>
              <a:lnSpc>
                <a:spcPct val="114999"/>
              </a:lnSpc>
              <a:spcAft>
                <a:spcPts val="1100"/>
              </a:spcAft>
              <a:defRPr/>
            </a:pPr>
            <a:r>
              <a:rPr sz="2000">
                <a:solidFill>
                  <a:srgbClr val="B47954"/>
                </a:solidFill>
                <a:latin typeface="Trebuchet MS"/>
              </a:rPr>
              <a:t>▪  </a:t>
            </a:r>
            <a:r>
              <a:rPr sz="2000">
                <a:solidFill>
                  <a:srgbClr val="3B2E23"/>
                </a:solidFill>
                <a:latin typeface="Trebuchet MS"/>
              </a:rPr>
              <a:t>Eight classes. The leopard is the only one we act on </a:t>
            </a:r>
            <a:r>
              <a:rPr sz="1200" i="1">
                <a:solidFill>
                  <a:srgbClr val="3B2E23"/>
                </a:solidFill>
                <a:latin typeface="Trebuchet MS"/>
              </a:rPr>
              <a:t>(Other classes are negatives to prevent hallucination</a:t>
            </a:r>
            <a:r>
              <a:rPr sz="1200">
                <a:solidFill>
                  <a:srgbClr val="3B2E23"/>
                </a:solidFill>
                <a:latin typeface="Trebuchet MS"/>
              </a:rPr>
              <a:t>)</a:t>
            </a:r>
            <a:r>
              <a:rPr sz="2000">
                <a:solidFill>
                  <a:srgbClr val="3B2E23"/>
                </a:solidFill>
                <a:latin typeface="Trebuchet MS"/>
              </a:rPr>
              <a:t>.</a:t>
            </a:r>
            <a:endParaRPr/>
          </a:p>
          <a:p>
            <a:pPr>
              <a:lnSpc>
                <a:spcPct val="114999"/>
              </a:lnSpc>
              <a:spcAft>
                <a:spcPts val="1100"/>
              </a:spcAft>
              <a:defRPr/>
            </a:pPr>
            <a:r>
              <a:rPr sz="2000">
                <a:solidFill>
                  <a:srgbClr val="B47954"/>
                </a:solidFill>
                <a:latin typeface="Trebuchet MS"/>
              </a:rPr>
              <a:t>▪  </a:t>
            </a:r>
            <a:r>
              <a:rPr sz="2000">
                <a:solidFill>
                  <a:srgbClr val="3B2E23"/>
                </a:solidFill>
                <a:latin typeface="Trebuchet MS"/>
              </a:rPr>
              <a:t>Cut point chosen empirically: 18 admissible candidates, all profiled on the real devices.</a:t>
            </a:r>
            <a:endParaRPr/>
          </a:p>
          <a:p>
            <a:pPr>
              <a:lnSpc>
                <a:spcPct val="114999"/>
              </a:lnSpc>
              <a:spcAft>
                <a:spcPts val="1100"/>
              </a:spcAft>
              <a:defRPr/>
            </a:pPr>
            <a:r>
              <a:rPr sz="2000">
                <a:solidFill>
                  <a:srgbClr val="B47954"/>
                </a:solidFill>
                <a:latin typeface="Trebuchet MS"/>
              </a:rPr>
              <a:t>▪  </a:t>
            </a:r>
            <a:r>
              <a:rPr sz="2000">
                <a:solidFill>
                  <a:srgbClr val="3B2E23"/>
                </a:solidFill>
                <a:latin typeface="Trebuchet MS"/>
              </a:rPr>
              <a:t>Layer 3 choosen. It leaves 3.4% of the parameters on the camera, plus a small encoder.</a:t>
            </a:r>
            <a:endParaRPr/>
          </a:p>
        </p:txBody>
      </p:sp>
      <p:pic>
        <p:nvPicPr>
          <p:cNvPr id="2216475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914545" y="3785274"/>
            <a:ext cx="7471724" cy="28616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160405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4705969" name="TextBox 2"/>
          <p:cNvSpPr txBox="1"/>
          <p:nvPr/>
        </p:nvSpPr>
        <p:spPr bwMode="auto">
          <a:xfrm>
            <a:off x="777240" y="47548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300" b="1">
                <a:solidFill>
                  <a:srgbClr val="955E39"/>
                </a:solidFill>
                <a:latin typeface="Trebuchet MS"/>
              </a:rPr>
              <a:t>METHODOLOGY</a:t>
            </a:r>
            <a:endParaRPr/>
          </a:p>
        </p:txBody>
      </p:sp>
      <p:sp>
        <p:nvSpPr>
          <p:cNvPr id="165671171" name="TextBox 3"/>
          <p:cNvSpPr txBox="1"/>
          <p:nvPr/>
        </p:nvSpPr>
        <p:spPr bwMode="auto">
          <a:xfrm>
            <a:off x="777240" y="841248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3400" b="1">
                <a:solidFill>
                  <a:srgbClr val="543E2D"/>
                </a:solidFill>
                <a:latin typeface="Trebuchet MS"/>
              </a:rPr>
              <a:t>The learned bottleneck</a:t>
            </a:r>
            <a:endParaRPr/>
          </a:p>
        </p:txBody>
      </p:sp>
      <p:sp>
        <p:nvSpPr>
          <p:cNvPr id="1229334299" name="Rectangle 4"/>
          <p:cNvSpPr/>
          <p:nvPr/>
        </p:nvSpPr>
        <p:spPr bwMode="auto">
          <a:xfrm>
            <a:off x="777240" y="1627632"/>
            <a:ext cx="1463040" cy="50292"/>
          </a:xfrm>
          <a:prstGeom prst="rect">
            <a:avLst/>
          </a:prstGeom>
          <a:solidFill>
            <a:srgbClr val="B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8628416" name="TextBox 5"/>
          <p:cNvSpPr txBox="1"/>
          <p:nvPr/>
        </p:nvSpPr>
        <p:spPr bwMode="auto">
          <a:xfrm>
            <a:off x="777240" y="1874519"/>
            <a:ext cx="2606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/>
            </a:pPr>
            <a:r>
              <a:rPr sz="8000" b="1">
                <a:solidFill>
                  <a:srgbClr val="955E39"/>
                </a:solidFill>
                <a:latin typeface="Trebuchet MS"/>
              </a:rPr>
              <a:t>64x</a:t>
            </a:r>
            <a:endParaRPr/>
          </a:p>
          <a:p>
            <a:pPr algn="ctr">
              <a:spcAft>
                <a:spcPts val="400"/>
              </a:spcAft>
              <a:defRPr/>
            </a:pPr>
            <a:r>
              <a:rPr sz="1800" b="1">
                <a:solidFill>
                  <a:srgbClr val="3B2E23"/>
                </a:solidFill>
                <a:latin typeface="Trebuchet MS"/>
              </a:rPr>
              <a:t>smaller payload</a:t>
            </a:r>
            <a:endParaRPr/>
          </a:p>
          <a:p>
            <a:pPr algn="ctr">
              <a:spcAft>
                <a:spcPts val="400"/>
              </a:spcAft>
              <a:defRPr/>
            </a:pPr>
            <a:r>
              <a:rPr sz="1500" b="0">
                <a:solidFill>
                  <a:srgbClr val="776353"/>
                </a:solidFill>
                <a:latin typeface="Trebuchet MS"/>
              </a:rPr>
              <a:t>1600 KB to 25 KB per frame</a:t>
            </a:r>
            <a:endParaRPr/>
          </a:p>
        </p:txBody>
      </p:sp>
      <p:sp>
        <p:nvSpPr>
          <p:cNvPr id="900883240" name="TextBox 6"/>
          <p:cNvSpPr txBox="1"/>
          <p:nvPr/>
        </p:nvSpPr>
        <p:spPr bwMode="auto">
          <a:xfrm>
            <a:off x="3566160" y="1874519"/>
            <a:ext cx="2606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/>
            </a:pPr>
            <a:r>
              <a:rPr sz="8000" b="1">
                <a:solidFill>
                  <a:srgbClr val="955E39"/>
                </a:solidFill>
                <a:latin typeface="Trebuchet MS"/>
              </a:rPr>
              <a:t>7x</a:t>
            </a:r>
            <a:endParaRPr/>
          </a:p>
          <a:p>
            <a:pPr algn="ctr">
              <a:spcAft>
                <a:spcPts val="400"/>
              </a:spcAft>
              <a:defRPr/>
            </a:pPr>
            <a:r>
              <a:rPr sz="1800" b="1">
                <a:solidFill>
                  <a:srgbClr val="3B2E23"/>
                </a:solidFill>
                <a:latin typeface="Trebuchet MS"/>
              </a:rPr>
              <a:t>faster to send</a:t>
            </a:r>
            <a:endParaRPr/>
          </a:p>
          <a:p>
            <a:pPr algn="ctr">
              <a:spcAft>
                <a:spcPts val="400"/>
              </a:spcAft>
              <a:defRPr/>
            </a:pPr>
            <a:r>
              <a:rPr sz="1500" b="0">
                <a:solidFill>
                  <a:srgbClr val="776353"/>
                </a:solidFill>
                <a:latin typeface="Trebuchet MS"/>
              </a:rPr>
              <a:t>522 ms to 73 ms per frame</a:t>
            </a:r>
            <a:endParaRPr/>
          </a:p>
        </p:txBody>
      </p:sp>
      <p:sp>
        <p:nvSpPr>
          <p:cNvPr id="1955191313" name="TextBox 7"/>
          <p:cNvSpPr txBox="1"/>
          <p:nvPr/>
        </p:nvSpPr>
        <p:spPr bwMode="auto">
          <a:xfrm>
            <a:off x="777240" y="388620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999"/>
              </a:lnSpc>
              <a:spcAft>
                <a:spcPts val="1100"/>
              </a:spcAft>
              <a:defRPr/>
            </a:pPr>
            <a:r>
              <a:rPr sz="1700">
                <a:solidFill>
                  <a:srgbClr val="B47954"/>
                </a:solidFill>
                <a:latin typeface="Trebuchet MS"/>
              </a:rPr>
              <a:t>▪  </a:t>
            </a:r>
            <a:r>
              <a:rPr sz="1700">
                <a:solidFill>
                  <a:srgbClr val="3B2E23"/>
                </a:solidFill>
                <a:latin typeface="Trebuchet MS"/>
              </a:rPr>
              <a:t>A 4,112 parameter encoder narrows the feature map from 256 channels to 16, sent as uint8.</a:t>
            </a:r>
            <a:endParaRPr/>
          </a:p>
          <a:p>
            <a:pPr>
              <a:lnSpc>
                <a:spcPct val="114999"/>
              </a:lnSpc>
              <a:spcAft>
                <a:spcPts val="1100"/>
              </a:spcAft>
              <a:defRPr/>
            </a:pPr>
            <a:r>
              <a:rPr sz="1700">
                <a:solidFill>
                  <a:srgbClr val="B47954"/>
                </a:solidFill>
                <a:latin typeface="Trebuchet MS"/>
              </a:rPr>
              <a:t>▪  </a:t>
            </a:r>
            <a:r>
              <a:rPr sz="1700">
                <a:solidFill>
                  <a:srgbClr val="3B2E23"/>
                </a:solidFill>
                <a:latin typeface="Trebuchet MS"/>
              </a:rPr>
              <a:t>A larger decoder rebuilds it on the server, where the compute is affordable.</a:t>
            </a:r>
            <a:endParaRPr/>
          </a:p>
          <a:p>
            <a:pPr>
              <a:lnSpc>
                <a:spcPct val="114999"/>
              </a:lnSpc>
              <a:spcAft>
                <a:spcPts val="1100"/>
              </a:spcAft>
              <a:defRPr/>
            </a:pPr>
            <a:r>
              <a:rPr sz="1700">
                <a:solidFill>
                  <a:srgbClr val="B47954"/>
                </a:solidFill>
                <a:latin typeface="Trebuchet MS"/>
              </a:rPr>
              <a:t>▪  </a:t>
            </a:r>
            <a:r>
              <a:rPr sz="1700">
                <a:solidFill>
                  <a:srgbClr val="3B2E23"/>
                </a:solidFill>
                <a:latin typeface="Trebuchet MS"/>
              </a:rPr>
              <a:t>Everything downstream of the split is left completely unchanged.</a:t>
            </a:r>
            <a:endParaRPr/>
          </a:p>
        </p:txBody>
      </p:sp>
      <p:sp>
        <p:nvSpPr>
          <p:cNvPr id="1512372107" name="Rounded Rectangle 8"/>
          <p:cNvSpPr/>
          <p:nvPr/>
        </p:nvSpPr>
        <p:spPr bwMode="auto">
          <a:xfrm flipH="0" flipV="0">
            <a:off x="6172200" y="1749136"/>
            <a:ext cx="5527977" cy="4408540"/>
          </a:xfrm>
          <a:prstGeom prst="roundRect">
            <a:avLst>
              <a:gd name="adj" fmla="val 16667"/>
            </a:avLst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62829259" name="Picture 9" descr="transmission_tim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280500" y="2093308"/>
            <a:ext cx="5133954" cy="3782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37433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2359906" name="TextBox 2"/>
          <p:cNvSpPr txBox="1"/>
          <p:nvPr/>
        </p:nvSpPr>
        <p:spPr bwMode="auto">
          <a:xfrm>
            <a:off x="777240" y="47548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300" b="1">
                <a:solidFill>
                  <a:srgbClr val="955E39"/>
                </a:solidFill>
                <a:latin typeface="Trebuchet MS"/>
              </a:rPr>
              <a:t>RESULTS AND DISCUSSION</a:t>
            </a:r>
            <a:endParaRPr/>
          </a:p>
        </p:txBody>
      </p:sp>
      <p:sp>
        <p:nvSpPr>
          <p:cNvPr id="2013261124" name="TextBox 3"/>
          <p:cNvSpPr txBox="1"/>
          <p:nvPr/>
        </p:nvSpPr>
        <p:spPr bwMode="auto">
          <a:xfrm>
            <a:off x="777240" y="841248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3400" b="1">
                <a:solidFill>
                  <a:srgbClr val="543E2D"/>
                </a:solidFill>
                <a:latin typeface="Trebuchet MS"/>
              </a:rPr>
              <a:t>Accuracy holds, throughput improves</a:t>
            </a:r>
            <a:endParaRPr/>
          </a:p>
        </p:txBody>
      </p:sp>
      <p:sp>
        <p:nvSpPr>
          <p:cNvPr id="2031388165" name="Rectangle 4"/>
          <p:cNvSpPr/>
          <p:nvPr/>
        </p:nvSpPr>
        <p:spPr bwMode="auto">
          <a:xfrm>
            <a:off x="777240" y="1627632"/>
            <a:ext cx="1463040" cy="50292"/>
          </a:xfrm>
          <a:prstGeom prst="rect">
            <a:avLst/>
          </a:prstGeom>
          <a:solidFill>
            <a:srgbClr val="B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2116681" name="TextBox 5"/>
          <p:cNvSpPr txBox="1"/>
          <p:nvPr/>
        </p:nvSpPr>
        <p:spPr bwMode="auto">
          <a:xfrm>
            <a:off x="777240" y="1874517"/>
            <a:ext cx="5305318" cy="1423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999"/>
              </a:lnSpc>
              <a:spcAft>
                <a:spcPts val="1100"/>
              </a:spcAft>
              <a:defRPr/>
            </a:pPr>
            <a:r>
              <a:rPr sz="1700">
                <a:solidFill>
                  <a:srgbClr val="B47954"/>
                </a:solidFill>
                <a:latin typeface="Trebuchet MS"/>
              </a:rPr>
              <a:t>▪  </a:t>
            </a:r>
            <a:r>
              <a:rPr sz="1700">
                <a:solidFill>
                  <a:srgbClr val="3B2E23"/>
                </a:solidFill>
                <a:latin typeface="Trebuchet MS"/>
              </a:rPr>
              <a:t>Leopard AP@0.5 of 0.988. Compression costs it 0.011 AP50-95.</a:t>
            </a:r>
            <a:endParaRPr/>
          </a:p>
          <a:p>
            <a:pPr>
              <a:lnSpc>
                <a:spcPct val="114999"/>
              </a:lnSpc>
              <a:spcAft>
                <a:spcPts val="1100"/>
              </a:spcAft>
              <a:defRPr/>
            </a:pPr>
            <a:r>
              <a:rPr sz="1700">
                <a:solidFill>
                  <a:srgbClr val="B47954"/>
                </a:solidFill>
                <a:latin typeface="Trebuchet MS"/>
              </a:rPr>
              <a:t>▪  </a:t>
            </a:r>
            <a:r>
              <a:rPr sz="1700">
                <a:solidFill>
                  <a:srgbClr val="3B2E23"/>
                </a:solidFill>
                <a:latin typeface="Trebuchet MS"/>
              </a:rPr>
              <a:t>Across all eight classes the drop is 0.0197 mAP50-95.</a:t>
            </a:r>
            <a:endParaRPr/>
          </a:p>
        </p:txBody>
      </p:sp>
      <p:sp>
        <p:nvSpPr>
          <p:cNvPr id="101672054" name="Rounded Rectangle 6"/>
          <p:cNvSpPr/>
          <p:nvPr/>
        </p:nvSpPr>
        <p:spPr bwMode="auto">
          <a:xfrm flipH="0" flipV="0">
            <a:off x="6665723" y="1565458"/>
            <a:ext cx="4604671" cy="3361320"/>
          </a:xfrm>
          <a:prstGeom prst="roundRect">
            <a:avLst>
              <a:gd name="adj" fmla="val 16667"/>
            </a:avLst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76077792" name="Picture 7" descr="accuracy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894295" y="1718082"/>
            <a:ext cx="4147526" cy="3056072"/>
          </a:xfrm>
          <a:prstGeom prst="rect">
            <a:avLst/>
          </a:prstGeom>
        </p:spPr>
      </p:pic>
      <p:sp>
        <p:nvSpPr>
          <p:cNvPr id="860984385" name="Rounded Rectangle 8"/>
          <p:cNvSpPr/>
          <p:nvPr/>
        </p:nvSpPr>
        <p:spPr bwMode="auto">
          <a:xfrm>
            <a:off x="891124" y="5084064"/>
            <a:ext cx="10379271" cy="1627632"/>
          </a:xfrm>
          <a:prstGeom prst="roundRect">
            <a:avLst>
              <a:gd name="adj" fmla="val 16667"/>
            </a:avLst>
          </a:prstGeom>
          <a:solidFill>
            <a:srgbClr val="FC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5979365" name="Picture 9" descr="ir_strip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73420" y="5166360"/>
            <a:ext cx="10214679" cy="1463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664848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7929551" name="TextBox 2"/>
          <p:cNvSpPr txBox="1"/>
          <p:nvPr/>
        </p:nvSpPr>
        <p:spPr bwMode="auto">
          <a:xfrm>
            <a:off x="777240" y="47548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300" b="1">
                <a:solidFill>
                  <a:srgbClr val="955E39"/>
                </a:solidFill>
                <a:latin typeface="Trebuchet MS"/>
              </a:rPr>
              <a:t>CONCLUSION</a:t>
            </a:r>
            <a:endParaRPr/>
          </a:p>
        </p:txBody>
      </p:sp>
      <p:sp>
        <p:nvSpPr>
          <p:cNvPr id="253735340" name="TextBox 3"/>
          <p:cNvSpPr txBox="1"/>
          <p:nvPr/>
        </p:nvSpPr>
        <p:spPr bwMode="auto">
          <a:xfrm>
            <a:off x="777240" y="841248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3400" b="1">
                <a:solidFill>
                  <a:srgbClr val="543E2D"/>
                </a:solidFill>
                <a:latin typeface="Trebuchet MS"/>
              </a:rPr>
              <a:t>Conclusion</a:t>
            </a:r>
            <a:endParaRPr/>
          </a:p>
        </p:txBody>
      </p:sp>
      <p:sp>
        <p:nvSpPr>
          <p:cNvPr id="277090402" name="Rectangle 4"/>
          <p:cNvSpPr/>
          <p:nvPr/>
        </p:nvSpPr>
        <p:spPr bwMode="auto">
          <a:xfrm>
            <a:off x="777240" y="1627632"/>
            <a:ext cx="1463040" cy="50292"/>
          </a:xfrm>
          <a:prstGeom prst="rect">
            <a:avLst/>
          </a:prstGeom>
          <a:solidFill>
            <a:srgbClr val="B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0104219" name="TextBox 5"/>
          <p:cNvSpPr txBox="1"/>
          <p:nvPr/>
        </p:nvSpPr>
        <p:spPr bwMode="auto">
          <a:xfrm>
            <a:off x="777240" y="1874519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999"/>
              </a:lnSpc>
              <a:spcAft>
                <a:spcPts val="1100"/>
              </a:spcAft>
              <a:defRPr/>
            </a:pPr>
            <a:r>
              <a:rPr sz="2200">
                <a:solidFill>
                  <a:srgbClr val="B47954"/>
                </a:solidFill>
                <a:latin typeface="Trebuchet MS"/>
              </a:rPr>
              <a:t>▪  </a:t>
            </a:r>
            <a:r>
              <a:rPr sz="2200">
                <a:solidFill>
                  <a:srgbClr val="3B2E23"/>
                </a:solidFill>
                <a:latin typeface="Trebuchet MS"/>
              </a:rPr>
              <a:t>A model no single field device can run in real time now runs across a whole reserve.</a:t>
            </a:r>
            <a:endParaRPr/>
          </a:p>
          <a:p>
            <a:pPr>
              <a:lnSpc>
                <a:spcPct val="114999"/>
              </a:lnSpc>
              <a:spcAft>
                <a:spcPts val="1100"/>
              </a:spcAft>
              <a:defRPr/>
            </a:pPr>
            <a:r>
              <a:rPr sz="2200">
                <a:solidFill>
                  <a:srgbClr val="B47954"/>
                </a:solidFill>
                <a:latin typeface="Trebuchet MS"/>
              </a:rPr>
              <a:t>▪  </a:t>
            </a:r>
            <a:r>
              <a:rPr sz="2200">
                <a:solidFill>
                  <a:srgbClr val="3B2E23"/>
                </a:solidFill>
                <a:latin typeface="Trebuchet MS"/>
              </a:rPr>
              <a:t>The wireless link is no longer the limit on how many cameras a reserve can carry.</a:t>
            </a:r>
            <a:endParaRPr/>
          </a:p>
          <a:p>
            <a:pPr>
              <a:lnSpc>
                <a:spcPct val="114999"/>
              </a:lnSpc>
              <a:spcAft>
                <a:spcPts val="1100"/>
              </a:spcAft>
              <a:defRPr/>
            </a:pPr>
            <a:r>
              <a:rPr sz="2200">
                <a:solidFill>
                  <a:srgbClr val="B47954"/>
                </a:solidFill>
                <a:latin typeface="Trebuchet MS"/>
              </a:rPr>
              <a:t>▪  </a:t>
            </a:r>
            <a:r>
              <a:rPr sz="2200">
                <a:solidFill>
                  <a:srgbClr val="3B2E23"/>
                </a:solidFill>
                <a:latin typeface="Trebuchet MS"/>
              </a:rPr>
              <a:t>Next: skipping empty frames on the camera, detection-aware bottleneck training, a live field trial.</a:t>
            </a:r>
            <a:endParaRPr/>
          </a:p>
        </p:txBody>
      </p:sp>
      <p:sp>
        <p:nvSpPr>
          <p:cNvPr id="1102679846" name="TextBox 6"/>
          <p:cNvSpPr txBox="1"/>
          <p:nvPr/>
        </p:nvSpPr>
        <p:spPr bwMode="auto">
          <a:xfrm>
            <a:off x="777240" y="5029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700" b="1">
                <a:solidFill>
                  <a:srgbClr val="955E39"/>
                </a:solidFill>
                <a:latin typeface="Trebuchet MS"/>
              </a:rPr>
              <a:t>github.com/EE-Omar/Hunting-Leopards-with-Half-Brain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257021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2374521" name="Rectangle 2"/>
          <p:cNvSpPr/>
          <p:nvPr/>
        </p:nvSpPr>
        <p:spPr bwMode="auto">
          <a:xfrm>
            <a:off x="0" y="0"/>
            <a:ext cx="310896" cy="6858000"/>
          </a:xfrm>
          <a:prstGeom prst="rect">
            <a:avLst/>
          </a:prstGeom>
          <a:solidFill>
            <a:srgbClr val="B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1991805" name="Rectangle 3"/>
          <p:cNvSpPr/>
          <p:nvPr/>
        </p:nvSpPr>
        <p:spPr bwMode="auto">
          <a:xfrm>
            <a:off x="0" y="6547104"/>
            <a:ext cx="12191695" cy="310896"/>
          </a:xfrm>
          <a:prstGeom prst="rect">
            <a:avLst/>
          </a:prstGeom>
          <a:solidFill>
            <a:srgbClr val="B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54256155" name="TextBox 5"/>
          <p:cNvSpPr txBox="1"/>
          <p:nvPr/>
        </p:nvSpPr>
        <p:spPr bwMode="auto">
          <a:xfrm>
            <a:off x="1188720" y="137160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4400" b="1">
                <a:solidFill>
                  <a:srgbClr val="543E2D"/>
                </a:solidFill>
                <a:latin typeface="Trebuchet MS"/>
              </a:rPr>
              <a:t>Thank You</a:t>
            </a:r>
            <a:endParaRPr/>
          </a:p>
        </p:txBody>
      </p:sp>
      <p:sp>
        <p:nvSpPr>
          <p:cNvPr id="90175893" name="Rectangle 6"/>
          <p:cNvSpPr/>
          <p:nvPr/>
        </p:nvSpPr>
        <p:spPr bwMode="auto">
          <a:xfrm>
            <a:off x="1188720" y="2331720"/>
            <a:ext cx="1463040" cy="50292"/>
          </a:xfrm>
          <a:prstGeom prst="rect">
            <a:avLst/>
          </a:prstGeom>
          <a:solidFill>
            <a:srgbClr val="B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63669592" name="TextBox 7"/>
          <p:cNvSpPr txBox="1"/>
          <p:nvPr/>
        </p:nvSpPr>
        <p:spPr bwMode="auto">
          <a:xfrm>
            <a:off x="1188720" y="283464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900" b="1">
                <a:solidFill>
                  <a:srgbClr val="3B2E23"/>
                </a:solidFill>
                <a:latin typeface="Trebuchet MS"/>
              </a:rPr>
              <a:t>Omar Alharbi</a:t>
            </a:r>
            <a:endParaRPr/>
          </a:p>
          <a:p>
            <a:pPr>
              <a:defRPr/>
            </a:pPr>
            <a:r>
              <a:rPr sz="1400" b="0">
                <a:solidFill>
                  <a:srgbClr val="776353"/>
                </a:solidFill>
                <a:latin typeface="Trebuchet MS"/>
              </a:rPr>
              <a:t>omar.alharbi@kaust.edu.sa</a:t>
            </a:r>
            <a:endParaRPr/>
          </a:p>
        </p:txBody>
      </p:sp>
      <p:sp>
        <p:nvSpPr>
          <p:cNvPr id="997429272" name="TextBox 8"/>
          <p:cNvSpPr txBox="1"/>
          <p:nvPr/>
        </p:nvSpPr>
        <p:spPr bwMode="auto">
          <a:xfrm>
            <a:off x="6263640" y="2834639"/>
            <a:ext cx="4581720" cy="503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900" b="1">
                <a:solidFill>
                  <a:srgbClr val="3B2E23"/>
                </a:solidFill>
                <a:latin typeface="Trebuchet MS"/>
              </a:rPr>
              <a:t>Abdullah Alhindi</a:t>
            </a:r>
            <a:endParaRPr/>
          </a:p>
          <a:p>
            <a:pPr>
              <a:defRPr/>
            </a:pPr>
            <a:r>
              <a:rPr sz="1400" b="0">
                <a:solidFill>
                  <a:srgbClr val="776353"/>
                </a:solidFill>
                <a:latin typeface="Trebuchet MS"/>
              </a:rPr>
              <a:t>abdullah-ghulam@outlook.com</a:t>
            </a:r>
            <a:endParaRPr/>
          </a:p>
        </p:txBody>
      </p:sp>
      <p:sp>
        <p:nvSpPr>
          <p:cNvPr id="1201282526" name="TextBox 9"/>
          <p:cNvSpPr txBox="1"/>
          <p:nvPr/>
        </p:nvSpPr>
        <p:spPr bwMode="auto">
          <a:xfrm>
            <a:off x="1188720" y="379476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900" b="1">
                <a:solidFill>
                  <a:srgbClr val="3B2E23"/>
                </a:solidFill>
                <a:latin typeface="Trebuchet MS"/>
              </a:rPr>
              <a:t>Abdullah Alghanim</a:t>
            </a:r>
            <a:endParaRPr/>
          </a:p>
          <a:p>
            <a:pPr>
              <a:defRPr/>
            </a:pPr>
            <a:r>
              <a:rPr sz="1400" b="0">
                <a:solidFill>
                  <a:srgbClr val="776353"/>
                </a:solidFill>
                <a:latin typeface="Trebuchet MS"/>
              </a:rPr>
              <a:t>abdullah.alghanim@kaust.edu.sa</a:t>
            </a:r>
            <a:endParaRPr/>
          </a:p>
        </p:txBody>
      </p:sp>
      <p:sp>
        <p:nvSpPr>
          <p:cNvPr id="586188047" name="TextBox 10"/>
          <p:cNvSpPr txBox="1"/>
          <p:nvPr/>
        </p:nvSpPr>
        <p:spPr bwMode="auto">
          <a:xfrm>
            <a:off x="6263640" y="379476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900" b="1">
                <a:solidFill>
                  <a:srgbClr val="3B2E23"/>
                </a:solidFill>
                <a:latin typeface="Trebuchet MS"/>
              </a:rPr>
              <a:t>Rasheed Hamidaddin</a:t>
            </a:r>
            <a:endParaRPr/>
          </a:p>
          <a:p>
            <a:pPr>
              <a:defRPr/>
            </a:pPr>
            <a:r>
              <a:rPr sz="1400" b="0">
                <a:solidFill>
                  <a:srgbClr val="776353"/>
                </a:solidFill>
                <a:latin typeface="Trebuchet MS"/>
              </a:rPr>
              <a:t>rasheed.hamidaddin@kaust.edu.sa</a:t>
            </a:r>
            <a:endParaRPr/>
          </a:p>
        </p:txBody>
      </p:sp>
      <p:sp>
        <p:nvSpPr>
          <p:cNvPr id="483537631" name="TextBox 11"/>
          <p:cNvSpPr txBox="1"/>
          <p:nvPr/>
        </p:nvSpPr>
        <p:spPr bwMode="auto">
          <a:xfrm>
            <a:off x="1188720" y="475488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900" b="1">
                <a:solidFill>
                  <a:srgbClr val="3B2E23"/>
                </a:solidFill>
                <a:latin typeface="Trebuchet MS"/>
              </a:rPr>
              <a:t>Basil Alshareef</a:t>
            </a:r>
            <a:endParaRPr/>
          </a:p>
          <a:p>
            <a:pPr>
              <a:defRPr/>
            </a:pPr>
            <a:r>
              <a:rPr sz="1400" b="0">
                <a:solidFill>
                  <a:srgbClr val="776353"/>
                </a:solidFill>
                <a:latin typeface="Trebuchet MS"/>
              </a:rPr>
              <a:t>basilahmed.alshareef@gmail.com</a:t>
            </a:r>
            <a:endParaRPr/>
          </a:p>
        </p:txBody>
      </p:sp>
      <p:sp>
        <p:nvSpPr>
          <p:cNvPr id="646590433" name="TextBox 12"/>
          <p:cNvSpPr txBox="1"/>
          <p:nvPr/>
        </p:nvSpPr>
        <p:spPr bwMode="auto">
          <a:xfrm>
            <a:off x="6263640" y="475488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900" b="1">
                <a:solidFill>
                  <a:srgbClr val="3B2E23"/>
                </a:solidFill>
                <a:latin typeface="Trebuchet MS"/>
              </a:rPr>
              <a:t>Basil Alshehri</a:t>
            </a:r>
            <a:endParaRPr/>
          </a:p>
          <a:p>
            <a:pPr>
              <a:defRPr/>
            </a:pPr>
            <a:r>
              <a:rPr sz="1400" b="0">
                <a:solidFill>
                  <a:srgbClr val="776353"/>
                </a:solidFill>
                <a:latin typeface="Trebuchet MS"/>
              </a:rPr>
              <a:t>basil.alshehri55@gmail.com</a:t>
            </a:r>
            <a:endParaRPr/>
          </a:p>
        </p:txBody>
      </p:sp>
      <p:sp>
        <p:nvSpPr>
          <p:cNvPr id="928365259" name="TextBox 13"/>
          <p:cNvSpPr txBox="1"/>
          <p:nvPr/>
        </p:nvSpPr>
        <p:spPr bwMode="auto">
          <a:xfrm>
            <a:off x="1188720" y="5806440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sz="1400" b="1">
                <a:solidFill>
                  <a:srgbClr val="955E39"/>
                </a:solidFill>
                <a:latin typeface="Trebuchet MS"/>
              </a:rPr>
              <a:t>KAUST Academy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5</cp:revision>
  <dcterms:created xsi:type="dcterms:W3CDTF">2013-01-27T09:14:16Z</dcterms:created>
  <dcterms:modified xsi:type="dcterms:W3CDTF">2026-08-23T15:17:45Z</dcterms:modified>
  <cp:category/>
</cp:coreProperties>
</file>